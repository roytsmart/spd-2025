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0" r:id="rId4"/>
    <p:sldId id="258" r:id="rId5"/>
    <p:sldId id="283" r:id="rId6"/>
    <p:sldId id="264" r:id="rId7"/>
    <p:sldId id="262" r:id="rId8"/>
    <p:sldId id="266" r:id="rId9"/>
    <p:sldId id="265" r:id="rId10"/>
    <p:sldId id="270" r:id="rId11"/>
    <p:sldId id="271" r:id="rId12"/>
    <p:sldId id="263" r:id="rId13"/>
    <p:sldId id="269" r:id="rId14"/>
    <p:sldId id="284" r:id="rId15"/>
    <p:sldId id="259" r:id="rId16"/>
    <p:sldId id="272" r:id="rId17"/>
    <p:sldId id="277" r:id="rId18"/>
    <p:sldId id="274" r:id="rId19"/>
    <p:sldId id="275" r:id="rId20"/>
    <p:sldId id="276" r:id="rId21"/>
    <p:sldId id="278" r:id="rId22"/>
    <p:sldId id="279" r:id="rId23"/>
    <p:sldId id="261" r:id="rId24"/>
    <p:sldId id="280" r:id="rId25"/>
    <p:sldId id="281" r:id="rId26"/>
    <p:sldId id="282" r:id="rId27"/>
    <p:sldId id="26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80911" autoAdjust="0"/>
  </p:normalViewPr>
  <p:slideViewPr>
    <p:cSldViewPr snapToGrid="0">
      <p:cViewPr varScale="1">
        <p:scale>
          <a:sx n="83" d="100"/>
          <a:sy n="83" d="100"/>
        </p:scale>
        <p:origin x="45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5ABE5E-EB1F-42BB-AD47-C72A690044A4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E419C-FC17-4E55-8423-7E8B98929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80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thanks for joining me today, my name is Roy Smart and I am a PhD student at Montana State University.</a:t>
            </a:r>
          </a:p>
          <a:p>
            <a:endParaRPr lang="en-US" dirty="0"/>
          </a:p>
          <a:p>
            <a:r>
              <a:rPr lang="en-US" dirty="0"/>
              <a:t>Today I’d like to talk about some work that we did on modeling the noise measured by back-illuminated silicon imaging sensors that are often used in </a:t>
            </a:r>
            <a:r>
              <a:rPr lang="en-US" dirty="0" err="1"/>
              <a:t>astrononmy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419C-FC17-4E55-8423-7E8B989299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51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I’d like to begin with a minor mystery: on the left are two photon-transfer curves for the Interface Region Imaging Spectrograph, or IRIS from Wulser et al 2018.</a:t>
            </a:r>
          </a:p>
          <a:p>
            <a:r>
              <a:rPr lang="en-US" dirty="0"/>
              <a:t>A photon transfer curve plots the observed variance of a flat field as a function of the mean value.</a:t>
            </a:r>
          </a:p>
          <a:p>
            <a:r>
              <a:rPr lang="en-US" dirty="0"/>
              <a:t>The top plot is a photon-transfer curve in blue light and the bottom is the same but for ultraviolet light at 1350 angstroms.</a:t>
            </a:r>
          </a:p>
          <a:p>
            <a:r>
              <a:rPr lang="en-US" dirty="0"/>
              <a:t>From theoretical considerations, the IRIS team expected that the slope ratio between these two curves to be greater than 2 but they measured only 1.5</a:t>
            </a:r>
          </a:p>
          <a:p>
            <a:r>
              <a:rPr lang="en-US" dirty="0"/>
              <a:t>This is good news, as IRIS has about 25% better signal-to-noise ratio than expected, but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419C-FC17-4E55-8423-7E8B989299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495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plot of pen depth vs wavelength. PCC happens near the surface, so only wavelengths that dip below this line are significantly affected by PCC.</a:t>
            </a:r>
          </a:p>
          <a:p>
            <a:endParaRPr lang="en-US" dirty="0"/>
          </a:p>
          <a:p>
            <a:r>
              <a:rPr lang="en-US" dirty="0"/>
              <a:t>Twin axes for CCE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419C-FC17-4E55-8423-7E8B989299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1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731EC-F1EF-6786-04D5-A069FE9C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7B7E0-4BBB-F113-542E-AA583A969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12573-0D65-9DCD-D853-9FF04336D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plot of pen depth vs wavelength. PCC happens near the surface, so only wavelengths that dip below this line are significantly affected by PCC.</a:t>
            </a:r>
          </a:p>
          <a:p>
            <a:endParaRPr lang="en-US" dirty="0"/>
          </a:p>
          <a:p>
            <a:r>
              <a:rPr lang="en-US" dirty="0"/>
              <a:t>Twin axes for CCE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B71F1-E419-CAAF-44A8-217DC0B58D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419C-FC17-4E55-8423-7E8B989299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16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7A766-AA9C-4E9D-4A1A-EE14F9477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0C4371-EF24-70AA-C1AF-107B0B815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F98C2-EB4A-6D80-B861-DE890B390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plot of pen depth vs wavelength. PCC happens near the surface, so only wavelengths that dip below this line are significantly affected by PCC.</a:t>
            </a:r>
          </a:p>
          <a:p>
            <a:endParaRPr lang="en-US" dirty="0"/>
          </a:p>
          <a:p>
            <a:r>
              <a:rPr lang="en-US" dirty="0"/>
              <a:t>Twin axes for CCE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38919-BEBF-5A8E-653D-19FF2C22C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419C-FC17-4E55-8423-7E8B989299E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116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C569C-DEB8-C59B-B351-71EC29747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51F84-0AC1-C6B4-B2DA-E61726177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9D011-FAB1-770E-51DE-95075280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7D46A-5DAB-8038-DEBC-5575CE8F1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A0260-8E13-F4DB-3E79-FE811288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3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A9550-265C-4475-74DA-3132C06A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A86A-9A43-F599-FD9B-CAFAE265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09445-14AC-1628-6BFD-61F2F615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207AF-6883-BBF6-3FAE-3582550B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E6339-D9EB-58B8-FF67-FB299AB5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995D-E421-67AD-6040-7AAEF65E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22BC2-4C55-C508-E7A0-C3978151B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BDEC0-3C03-4899-0804-F9BEE6A5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E17-92E1-E1DF-FE92-11216110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A98A6-FB28-6073-6F5A-7B0E669E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C603-113F-CBBA-DFDA-1384BFB80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2A3A3-6CA7-DBE3-5485-515A2FB85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60A62-C4C1-8CC2-3BEE-B828F92E2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44C9F-E9FC-4597-38AE-2742CA5E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98CC5-8D65-CFB4-6B00-F089A850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CC2A1-CE95-BE15-5D89-071F3DBE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7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E22B-280B-0E25-75C8-88FA9BAFD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F80F5-DC1B-6775-8C38-83F97F2CA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9E506-7B59-4B7A-8B8E-5229E4C54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DEE2A-F887-21F0-9CAA-AAE58DB0F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87D0C-073D-D092-894B-E7088CB68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10D21A-25DB-339F-0B2A-8F5D90F3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BE9D7-B2DB-EF14-D8DD-F1F96100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885E6-F7D8-0E06-D639-05C8390C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8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607A0-2F82-CEC8-06A0-98374739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D92307-33BC-886C-CCF2-F91BC1EC2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882477-489F-D035-730E-A0A0F55F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4C6CB-9809-89BC-795A-996C365B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8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1F88CA-4D0B-CD66-1CDD-0C14A2492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2C5A4F-A958-4F3E-CB1D-79B907ECA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86287-BB6B-B40B-E582-1715A901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0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6D42-CFE9-AE90-A495-20D11CE2A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82D9-C62D-185E-5474-564869BC9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867F5-067A-9A08-07F1-AF70B9E0D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7162C-2A1D-A31F-D497-5397F072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3A917-FAE2-26B2-F8FF-1C711290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85297-5A27-DFD3-832E-337326F7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1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C3257-6E11-1561-D373-20E49686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D7136C-A2C2-EFF1-9B48-FC1A8A1B6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F113B-3629-E2EC-6EE5-FF9AF7BCD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A677B-12CF-FE32-C3A3-B98A89342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3684F-EE56-0D37-8B5B-2EAC764C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BA2499-85EB-A820-AC9B-523EED53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18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D5E3-87CC-B5A9-6F2C-0B147CC9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4EFE0-0211-9607-FD0B-4AA4105AE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70D5D-3618-92D9-3F57-B8F275F2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2F799-9F64-5B62-260D-45A78C7F3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D1616-5466-6784-E389-360D3979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36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BF780-F3AA-36D8-AB1A-54FDB6863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B093D-CBF1-2C77-814D-6B372F406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4CA1D-60F2-C642-DC83-9DE79521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4C88C-46A4-8A23-02D5-2E2BB278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B9E3E-FDBF-B0AD-66D6-CB889C77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6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0989A-FF7D-0664-8A72-222B3FB3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FC7B3-D120-94D6-E23F-22AC834EB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73019-2330-2782-F0F4-C065F89D1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130F9-7804-4ED9-958D-16082AD0306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B1FDD-4D4A-93E3-3C1E-A8885ECAD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07375-EA6A-4638-905B-A78D730E0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2396F-BB52-44DF-A28C-B9378BDE2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43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file:///C:\Users\byrdie\Kankelborg-Group\spd-2025\images\logo-montana-state-u.png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file:///C:\Users\byrdie\Kankelborg-Group\spd-2025\figures\quantum_yield.sv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file:///C:\Users\byrdie\Kankelborg-Group\spd-2025\figures\schematic.sv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file:///C:\Users\byrdie\Kankelborg-Group\spd-2025\figures\differential_cce.svg" TargetMode="Externa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file:///C:\Users\byrdie\Kankelborg-Group\spd-2025\figures\penetration_depth.svg" TargetMode="Externa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file:///C:\Users\byrdie\Kankelborg-Group\spd-2025\figures\cce.svg" TargetMode="Externa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file:///C:\Users\byrdie\Kankelborg-Group\spd-2025\figures\absorbance.svg" TargetMode="Externa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file:///C:\Users\byrdie\Kankelborg-Group\spd-2025\figures\eqe.sv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file:///C:\Users\byrdie\Kankelborg-Group\spd-2025\figures\vmr_simple.svg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file:///C:\Users\byrdie\Kankelborg-Group\spd-2025\figures\vmr_shot.svg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file:///C:\Users\byrdie\Kankelborg-Group\spd-2025\figures\vmr_fano.svg" TargetMode="External"/><Relationship Id="rId4" Type="http://schemas.openxmlformats.org/officeDocument/2006/relationships/image" Target="../media/image2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41.png"/><Relationship Id="rId4" Type="http://schemas.openxmlformats.org/officeDocument/2006/relationships/image" Target="file:///C:\Users\byrdie\Kankelborg-Group\spd-2025\figures\vmr_pcc.sv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file:///C:\Users\byrdie\Kankelborg-Group\spd-2025\figures\vmr_total.sv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file:///C:\Users\byrdie\Kankelborg-Group\spd-2025\figures\vmr_ratio.svg" TargetMode="External"/><Relationship Id="rId4" Type="http://schemas.openxmlformats.org/officeDocument/2006/relationships/image" Target="../media/image38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file:///C:\Users\byrdie\Kankelborg-Group\spd-2025\figures\charge_diffusion.svg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yrdie\Kankelborg-Group\spd-2025\tables\measurement.PNG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file:///C:\Users\byrdie\Kankelborg-Group\spd-2025\tables\improvement.png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D0D78-B8F3-3EB4-B71B-C96274606B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Noise Measured by Back-illuminated Silicon Sensors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C4A91-87F3-CD1A-A45C-63E2D4243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87086"/>
          </a:xfrm>
        </p:spPr>
        <p:txBody>
          <a:bodyPr>
            <a:normAutofit/>
          </a:bodyPr>
          <a:lstStyle/>
          <a:p>
            <a:r>
              <a:rPr lang="en-US" dirty="0"/>
              <a:t>Roy T. Smart</a:t>
            </a:r>
            <a:r>
              <a:rPr lang="en-US" baseline="30000" dirty="0"/>
              <a:t>1</a:t>
            </a:r>
            <a:r>
              <a:rPr lang="en-US" dirty="0"/>
              <a:t>, Charles C. Kankelborg</a:t>
            </a:r>
            <a:r>
              <a:rPr lang="en-US" baseline="30000" dirty="0"/>
              <a:t>1</a:t>
            </a:r>
            <a:r>
              <a:rPr lang="en-US" dirty="0"/>
              <a:t>, and Jacob D. Parker</a:t>
            </a:r>
            <a:r>
              <a:rPr lang="en-US" baseline="30000" dirty="0"/>
              <a:t>2</a:t>
            </a:r>
          </a:p>
          <a:p>
            <a:r>
              <a:rPr lang="en-US" baseline="30000" dirty="0"/>
              <a:t>1</a:t>
            </a:r>
            <a:r>
              <a:rPr lang="en-US" dirty="0"/>
              <a:t>Montana State University</a:t>
            </a:r>
          </a:p>
          <a:p>
            <a:r>
              <a:rPr lang="en-US" baseline="30000" dirty="0"/>
              <a:t>2</a:t>
            </a:r>
            <a:r>
              <a:rPr lang="en-US" dirty="0"/>
              <a:t>NASA/GSFC</a:t>
            </a:r>
          </a:p>
          <a:p>
            <a:endParaRPr lang="en-US" dirty="0"/>
          </a:p>
          <a:p>
            <a:r>
              <a:rPr lang="en-US" dirty="0"/>
              <a:t>246</a:t>
            </a:r>
            <a:r>
              <a:rPr lang="en-US" baseline="30000" dirty="0"/>
              <a:t>th</a:t>
            </a:r>
            <a:r>
              <a:rPr lang="en-US" dirty="0"/>
              <a:t> Meeting of the American Astronomical Society</a:t>
            </a:r>
          </a:p>
          <a:p>
            <a:r>
              <a:rPr lang="en-US" dirty="0"/>
              <a:t>June 9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520E26-019F-4D35-3B67-512584CD5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78" y="136318"/>
            <a:ext cx="2357933" cy="1972089"/>
          </a:xfrm>
          <a:prstGeom prst="rect">
            <a:avLst/>
          </a:prstGeom>
        </p:spPr>
      </p:pic>
      <p:pic>
        <p:nvPicPr>
          <p:cNvPr id="9" name="Picture 8" descr="A blue and yellow logo with a yellow flame&#10;&#10;AI-generated content may be incorrect.">
            <a:extLst>
              <a:ext uri="{FF2B5EF4-FFF2-40B4-BE49-F238E27FC236}">
                <a16:creationId xmlns:a16="http://schemas.microsoft.com/office/drawing/2014/main" id="{922AFE5E-ED77-8EEA-72A1-DA6825CF4D7F}"/>
              </a:ext>
            </a:extLst>
          </p:cNvPr>
          <p:cNvPicPr>
            <a:picLocks noChangeAspect="1"/>
          </p:cNvPicPr>
          <p:nvPr/>
        </p:nvPicPr>
        <p:blipFill>
          <a:blip r:embed="rId5" r:link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2417" y="180801"/>
            <a:ext cx="2699815" cy="1883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98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2B0AF-243D-A0F4-EBAC-29DB724B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IRIS Noise Mystery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A3767-A517-A8B6-3E9A-D78A398D2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417128" cy="4351338"/>
          </a:xfrm>
        </p:spPr>
        <p:txBody>
          <a:bodyPr/>
          <a:lstStyle/>
          <a:p>
            <a:r>
              <a:rPr lang="en-US" dirty="0"/>
              <a:t>IRIS measures less noise than predicted (Wulser et al. 2018).</a:t>
            </a:r>
          </a:p>
          <a:p>
            <a:pPr lvl="1"/>
            <a:r>
              <a:rPr lang="en-US" dirty="0"/>
              <a:t>Photon transfer curve is too shallow</a:t>
            </a:r>
          </a:p>
          <a:p>
            <a:pPr lvl="2"/>
            <a:r>
              <a:rPr lang="en-US" dirty="0"/>
              <a:t>Expected slope ratio &gt; 2</a:t>
            </a:r>
          </a:p>
          <a:p>
            <a:pPr lvl="2"/>
            <a:r>
              <a:rPr lang="en-US" dirty="0"/>
              <a:t>Measured slope ratio = 1.5</a:t>
            </a:r>
          </a:p>
          <a:p>
            <a:pPr lvl="1"/>
            <a:r>
              <a:rPr lang="en-US" dirty="0"/>
              <a:t>SNR is ~25% better than expected</a:t>
            </a:r>
          </a:p>
        </p:txBody>
      </p:sp>
      <p:pic>
        <p:nvPicPr>
          <p:cNvPr id="7" name="Content Placeholder 7" descr="A graph of a photo transfer curve&#10;&#10;AI-generated content may be incorrect.">
            <a:extLst>
              <a:ext uri="{FF2B5EF4-FFF2-40B4-BE49-F238E27FC236}">
                <a16:creationId xmlns:a16="http://schemas.microsoft.com/office/drawing/2014/main" id="{5CB2DA91-B3DC-B87A-ED6B-F5A72A991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3302943"/>
            <a:ext cx="5040573" cy="3283121"/>
          </a:xfrm>
          <a:prstGeom prst="rect">
            <a:avLst/>
          </a:prstGeom>
        </p:spPr>
      </p:pic>
      <p:pic>
        <p:nvPicPr>
          <p:cNvPr id="8" name="Picture 7" descr="A graph of a blue led&#10;&#10;AI-generated content may be incorrect.">
            <a:extLst>
              <a:ext uri="{FF2B5EF4-FFF2-40B4-BE49-F238E27FC236}">
                <a16:creationId xmlns:a16="http://schemas.microsoft.com/office/drawing/2014/main" id="{49F753F9-9178-F037-C1C0-8AE6F2A4B6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"/>
            <a:ext cx="5181600" cy="330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21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EBB0-AF01-4726-B890-DC15B275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HST/WFC3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9CD5-0682-03F8-9CC0-D2EE8F529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516466" cy="4351338"/>
          </a:xfrm>
        </p:spPr>
        <p:txBody>
          <a:bodyPr/>
          <a:lstStyle/>
          <a:p>
            <a:r>
              <a:rPr lang="en-US" dirty="0"/>
              <a:t>Wide Field Camera 3 (WFC3) on Hubble also has this issue (Marinelli &amp; Green 2024)</a:t>
            </a:r>
          </a:p>
          <a:p>
            <a:pPr lvl="1"/>
            <a:r>
              <a:rPr lang="en-US" dirty="0"/>
              <a:t>“Quantum yield” is lower</a:t>
            </a:r>
          </a:p>
          <a:p>
            <a:pPr lvl="2"/>
            <a:r>
              <a:rPr lang="en-US" dirty="0"/>
              <a:t>Expected ~1.7 @ 200 nm</a:t>
            </a:r>
          </a:p>
          <a:p>
            <a:pPr lvl="2"/>
            <a:r>
              <a:rPr lang="en-US" dirty="0"/>
              <a:t>Measured 1.09 @ 200 nm</a:t>
            </a:r>
          </a:p>
          <a:p>
            <a:pPr lvl="1"/>
            <a:r>
              <a:rPr lang="en-US" dirty="0"/>
              <a:t>SNR is ~25% better than expected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BBD8E45B-E6A2-F434-C7C3-40059DD59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666" y="294534"/>
            <a:ext cx="6586276" cy="545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1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D5EA8-068B-5EAA-D49F-B0B1B09F4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2E8FB-6D23-74C0-CB9E-5E4548D56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Signal</a:t>
            </a:r>
          </a:p>
          <a:p>
            <a:pPr lvl="1"/>
            <a:r>
              <a:rPr lang="en-US" dirty="0"/>
              <a:t>Quantum yield</a:t>
            </a:r>
          </a:p>
          <a:p>
            <a:pPr lvl="1"/>
            <a:r>
              <a:rPr lang="en-US" dirty="0"/>
              <a:t>Charge-collection efficiency</a:t>
            </a:r>
          </a:p>
          <a:p>
            <a:pPr lvl="1"/>
            <a:r>
              <a:rPr lang="en-US" dirty="0"/>
              <a:t>Absorption</a:t>
            </a:r>
          </a:p>
          <a:p>
            <a:r>
              <a:rPr lang="en-US" dirty="0"/>
              <a:t>Noise</a:t>
            </a:r>
          </a:p>
          <a:p>
            <a:pPr lvl="1"/>
            <a:r>
              <a:rPr lang="en-US" dirty="0"/>
              <a:t>Simple noise model</a:t>
            </a:r>
          </a:p>
          <a:p>
            <a:pPr lvl="1"/>
            <a:r>
              <a:rPr lang="en-US" dirty="0"/>
              <a:t>Shot noise</a:t>
            </a:r>
          </a:p>
          <a:p>
            <a:pPr lvl="1"/>
            <a:r>
              <a:rPr lang="en-US" dirty="0"/>
              <a:t>Fano noise</a:t>
            </a:r>
          </a:p>
          <a:p>
            <a:pPr lvl="1"/>
            <a:r>
              <a:rPr lang="en-US" dirty="0"/>
              <a:t>Partial-charge collection noise</a:t>
            </a:r>
          </a:p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818544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0AAE-95A8-7E60-56F7-ADB44E3B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Signal</a:t>
            </a:r>
          </a:p>
        </p:txBody>
      </p:sp>
    </p:spTree>
    <p:extLst>
      <p:ext uri="{BB962C8B-B14F-4D97-AF65-F5344CB8AC3E}">
        <p14:creationId xmlns:p14="http://schemas.microsoft.com/office/powerpoint/2010/main" val="107356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7C58-9BB5-4446-79AA-8FE8AE99F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Yield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0642D-FCDE-A247-43EE-17DCD3F7A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16188" cy="4351338"/>
          </a:xfrm>
        </p:spPr>
        <p:txBody>
          <a:bodyPr>
            <a:normAutofit/>
          </a:bodyPr>
          <a:lstStyle/>
          <a:p>
            <a:r>
              <a:rPr lang="en-US" dirty="0"/>
              <a:t>Quantum yield (QY) is the number of electron-hole pairs generated per photon</a:t>
            </a:r>
          </a:p>
          <a:p>
            <a:r>
              <a:rPr lang="en-US" dirty="0"/>
              <a:t>QY increases as photon energy increases</a:t>
            </a:r>
          </a:p>
          <a:p>
            <a:pPr lvl="1"/>
            <a:r>
              <a:rPr lang="en-US" dirty="0"/>
              <a:t>QY = E / (3.65 eV) where E is the energy of the photon</a:t>
            </a:r>
          </a:p>
          <a:p>
            <a:r>
              <a:rPr lang="en-US" dirty="0"/>
              <a:t>Ramanathan &amp; Kurinsky (2020) QY model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87F688-0524-819F-8039-4958BF495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 r:link="rId4"/>
              </a:ext>
            </a:extLst>
          </a:blip>
          <a:stretch>
            <a:fillRect/>
          </a:stretch>
        </p:blipFill>
        <p:spPr>
          <a:xfrm>
            <a:off x="5410200" y="685800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0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74AE261-2FDB-F446-B5F0-9FA6C8697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 r:link="rId4"/>
              </a:ext>
            </a:extLst>
          </a:blip>
          <a:stretch>
            <a:fillRect/>
          </a:stretch>
        </p:blipFill>
        <p:spPr>
          <a:xfrm>
            <a:off x="4569759" y="853888"/>
            <a:ext cx="7315200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1CD73A-E0A6-B763-28FB-17B7C300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2124" cy="1325563"/>
          </a:xfrm>
        </p:spPr>
        <p:txBody>
          <a:bodyPr/>
          <a:lstStyle/>
          <a:p>
            <a:r>
              <a:rPr lang="en-US" dirty="0"/>
              <a:t>Back-illuminated Sensor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18F83-ABBB-CF81-0CE8-0EC5C4270F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01035" cy="4351338"/>
          </a:xfrm>
        </p:spPr>
        <p:txBody>
          <a:bodyPr/>
          <a:lstStyle/>
          <a:p>
            <a:r>
              <a:rPr lang="en-US" dirty="0"/>
              <a:t>Thin layer of silicon dioxide (~1 nm)</a:t>
            </a:r>
          </a:p>
          <a:p>
            <a:r>
              <a:rPr lang="en-US" dirty="0"/>
              <a:t>Light-sensitive silicon (16 </a:t>
            </a:r>
            <a:r>
              <a:rPr lang="el-GR" dirty="0"/>
              <a:t>μ</a:t>
            </a:r>
            <a:r>
              <a:rPr lang="en-US" dirty="0"/>
              <a:t>m)</a:t>
            </a:r>
          </a:p>
          <a:p>
            <a:pPr lvl="1"/>
            <a:r>
              <a:rPr lang="en-US" dirty="0"/>
              <a:t>Partial-charge collection (PCC) region (~100 nm)</a:t>
            </a:r>
          </a:p>
          <a:p>
            <a:pPr lvl="1"/>
            <a:r>
              <a:rPr lang="en-US" dirty="0"/>
              <a:t>Field-free region </a:t>
            </a:r>
          </a:p>
          <a:p>
            <a:pPr lvl="1"/>
            <a:r>
              <a:rPr lang="en-US" dirty="0"/>
              <a:t>Depletion region (8 </a:t>
            </a:r>
            <a:r>
              <a:rPr lang="el-GR" dirty="0"/>
              <a:t>μ</a:t>
            </a:r>
            <a:r>
              <a:rPr lang="en-US" dirty="0"/>
              <a:t>m)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50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78C48-D247-4701-5FF4-5DAB99EE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A382C-AA38-6C69-9D98-5DF317098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12124" cy="1325563"/>
          </a:xfrm>
        </p:spPr>
        <p:txBody>
          <a:bodyPr/>
          <a:lstStyle/>
          <a:p>
            <a:r>
              <a:rPr lang="en-US" dirty="0"/>
              <a:t>Partial-Charge Collection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8F4759-E6C0-BEA0-EB3B-43DA8D696E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1" y="1825625"/>
                <a:ext cx="3673288" cy="472981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Photons are absorbed according to the Beer-Lambert law (red)</a:t>
                </a:r>
              </a:p>
              <a:p>
                <a:r>
                  <a:rPr lang="en-US" dirty="0"/>
                  <a:t>Photons absorbed in  PCC region lose some electrons</a:t>
                </a:r>
              </a:p>
              <a:p>
                <a:r>
                  <a:rPr lang="en-US" dirty="0"/>
                  <a:t>Charge-collection efficiency (CCE) is the fraction of charge measured.</a:t>
                </a:r>
              </a:p>
              <a:p>
                <a:r>
                  <a:rPr lang="en-US" dirty="0"/>
                  <a:t>Piecewise-linear differential CCE introduced by Stern et al. (1994)</a:t>
                </a:r>
              </a:p>
              <a:p>
                <a:pPr lvl="1"/>
                <a:r>
                  <a:rPr lang="en-US" b="0"/>
                  <a:t>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8F4759-E6C0-BEA0-EB3B-43DA8D696E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1" y="1825625"/>
                <a:ext cx="3673288" cy="4729816"/>
              </a:xfrm>
              <a:blipFill>
                <a:blip r:embed="rId2"/>
                <a:stretch>
                  <a:fillRect l="-2658" t="-3222" r="-1495" b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>
            <a:extLst>
              <a:ext uri="{FF2B5EF4-FFF2-40B4-BE49-F238E27FC236}">
                <a16:creationId xmlns:a16="http://schemas.microsoft.com/office/drawing/2014/main" id="{6C456AF0-A03C-FFCA-50D9-FFEDF1C67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 r:link="rId5"/>
              </a:ext>
            </a:extLst>
          </a:blip>
          <a:stretch>
            <a:fillRect/>
          </a:stretch>
        </p:blipFill>
        <p:spPr>
          <a:xfrm>
            <a:off x="4572000" y="850392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487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BF65F-F963-9FDE-1899-3B73E39A5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86835" cy="1325563"/>
          </a:xfrm>
        </p:spPr>
        <p:txBody>
          <a:bodyPr/>
          <a:lstStyle/>
          <a:p>
            <a:r>
              <a:rPr lang="en-US" dirty="0"/>
              <a:t>Penetration depth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301FD-653C-EFA2-C3C0-0A19295F6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24618" cy="4351338"/>
          </a:xfrm>
        </p:spPr>
        <p:txBody>
          <a:bodyPr/>
          <a:lstStyle/>
          <a:p>
            <a:r>
              <a:rPr lang="en-US" dirty="0"/>
              <a:t>Some ultraviolet wavelengths have a penetration depth smaller than the PCC region</a:t>
            </a:r>
          </a:p>
          <a:p>
            <a:pPr lvl="1"/>
            <a:r>
              <a:rPr lang="en-US" dirty="0"/>
              <a:t>~40 – 100 A</a:t>
            </a:r>
          </a:p>
          <a:p>
            <a:pPr lvl="1"/>
            <a:r>
              <a:rPr lang="en-US" dirty="0"/>
              <a:t>~500 – 4500 A</a:t>
            </a:r>
          </a:p>
          <a:p>
            <a:r>
              <a:rPr lang="en-US" dirty="0"/>
              <a:t>Sensor is much less efficient in these regions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D91322-E042-0AA1-C440-857EAA9E4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 r:link="rId5"/>
              </a:ext>
            </a:extLst>
          </a:blip>
          <a:stretch>
            <a:fillRect/>
          </a:stretch>
        </p:blipFill>
        <p:spPr>
          <a:xfrm>
            <a:off x="5510451" y="685800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39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D67E-8BA0-0759-FA28-5DE20200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9500B-CC6C-2F28-6FA6-6336DD97C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8683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Average Charge-Collection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899B-4031-E63E-52F0-D9B6F98C6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24618" cy="4351338"/>
          </a:xfrm>
        </p:spPr>
        <p:txBody>
          <a:bodyPr/>
          <a:lstStyle/>
          <a:p>
            <a:r>
              <a:rPr lang="en-US" dirty="0"/>
              <a:t>Integrate Beer-Lambert law against differential CCE</a:t>
            </a:r>
          </a:p>
          <a:p>
            <a:r>
              <a:rPr lang="en-US" dirty="0"/>
              <a:t>Average CCE is needed for correct photometry</a:t>
            </a:r>
          </a:p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56B993A-8709-3FD4-9D49-AD255C53B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 r:link="rId5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52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B8D4-0E8C-F9FC-CE3D-C8D7D1BC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CE5E-9CC6-A7CC-1BE7-8A869F7F4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86835" cy="1325563"/>
          </a:xfrm>
        </p:spPr>
        <p:txBody>
          <a:bodyPr>
            <a:normAutofit/>
          </a:bodyPr>
          <a:lstStyle/>
          <a:p>
            <a:r>
              <a:rPr lang="en-US" dirty="0"/>
              <a:t>Absorbance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7FC5-6B1F-AB73-48A7-19B0500F6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224618" cy="4456987"/>
          </a:xfrm>
        </p:spPr>
        <p:txBody>
          <a:bodyPr>
            <a:normAutofit/>
          </a:bodyPr>
          <a:lstStyle/>
          <a:p>
            <a:r>
              <a:rPr lang="en-US" dirty="0"/>
              <a:t>Energy absorbed by light-sensitive layer</a:t>
            </a:r>
          </a:p>
          <a:p>
            <a:pPr lvl="1"/>
            <a:r>
              <a:rPr lang="en-US" dirty="0"/>
              <a:t>Reflections from each interface</a:t>
            </a:r>
          </a:p>
          <a:p>
            <a:pPr lvl="1"/>
            <a:r>
              <a:rPr lang="en-US" dirty="0"/>
              <a:t>Oxide absorption</a:t>
            </a:r>
          </a:p>
          <a:p>
            <a:pPr lvl="1"/>
            <a:r>
              <a:rPr lang="en-US" dirty="0"/>
              <a:t>Transmittance through entire sensor</a:t>
            </a:r>
          </a:p>
          <a:p>
            <a:r>
              <a:rPr lang="en-US" dirty="0"/>
              <a:t>Computed using standard optical constants (Henke 1993, Palik 1997)</a:t>
            </a:r>
          </a:p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B7BE68D-2314-784B-F90F-F2877359C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 r:link="rId5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56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AAD6D-7AEE-1361-B11A-0719B4D2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230341" cy="1325563"/>
          </a:xfrm>
        </p:spPr>
        <p:txBody>
          <a:bodyPr/>
          <a:lstStyle/>
          <a:p>
            <a:r>
              <a:rPr lang="en-US" dirty="0"/>
              <a:t>Quantum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49009-07D9-902F-3028-2647DD892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059141" cy="4351338"/>
          </a:xfrm>
        </p:spPr>
        <p:txBody>
          <a:bodyPr/>
          <a:lstStyle/>
          <a:p>
            <a:r>
              <a:rPr lang="en-US" dirty="0"/>
              <a:t>Quantum Efficiency (QE) is the factor used to convert from incident photons to measured electrons</a:t>
            </a:r>
          </a:p>
          <a:p>
            <a:r>
              <a:rPr lang="en-US" dirty="0"/>
              <a:t>Allowed to be larger than one!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69371C-3BC2-FE97-218F-242839AE0919}"/>
                  </a:ext>
                </a:extLst>
              </p:cNvPr>
              <p:cNvSpPr txBox="1"/>
              <p:nvPr/>
            </p:nvSpPr>
            <p:spPr>
              <a:xfrm>
                <a:off x="4540010" y="3550951"/>
                <a:ext cx="1655518" cy="10202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QE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69371C-3BC2-FE97-218F-242839AE0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0010" y="3550951"/>
                <a:ext cx="1655518" cy="10202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C3B012-3A95-2F95-80FD-4DA91445B548}"/>
                  </a:ext>
                </a:extLst>
              </p:cNvPr>
              <p:cNvSpPr txBox="1"/>
              <p:nvPr/>
            </p:nvSpPr>
            <p:spPr>
              <a:xfrm>
                <a:off x="5070764" y="4669736"/>
                <a:ext cx="464306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QY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CCE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Absorbance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C3B012-3A95-2F95-80FD-4DA91445B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764" y="4669736"/>
                <a:ext cx="464306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62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93138-E64E-426A-6D40-1C75B6CD1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35759" cy="1325563"/>
          </a:xfrm>
        </p:spPr>
        <p:txBody>
          <a:bodyPr/>
          <a:lstStyle/>
          <a:p>
            <a:r>
              <a:rPr lang="en-US" dirty="0"/>
              <a:t>Effective Quantum Efficiency (EQE)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EE86D-593C-CA2C-011C-B3F1A5F01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9811"/>
            <a:ext cx="4455367" cy="3247151"/>
          </a:xfrm>
        </p:spPr>
        <p:txBody>
          <a:bodyPr/>
          <a:lstStyle/>
          <a:p>
            <a:r>
              <a:rPr lang="en-US" dirty="0"/>
              <a:t>Measured quantity</a:t>
            </a:r>
          </a:p>
          <a:p>
            <a:pPr lvl="1"/>
            <a:r>
              <a:rPr lang="en-US" dirty="0"/>
              <a:t>Compare sensor to NIST photodiode</a:t>
            </a:r>
          </a:p>
          <a:p>
            <a:r>
              <a:rPr lang="en-US" dirty="0"/>
              <a:t>Between 0 and 1</a:t>
            </a:r>
          </a:p>
          <a:p>
            <a:r>
              <a:rPr lang="en-US" dirty="0"/>
              <a:t>Often used to compute QE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7FC0AC-1E43-6ADC-BD65-F2672D310707}"/>
                  </a:ext>
                </a:extLst>
              </p:cNvPr>
              <p:cNvSpPr txBox="1"/>
              <p:nvPr/>
            </p:nvSpPr>
            <p:spPr>
              <a:xfrm>
                <a:off x="778596" y="2048639"/>
                <a:ext cx="437812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EQE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CCE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Absorbance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7FC0AC-1E43-6ADC-BD65-F2672D310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96" y="2048639"/>
                <a:ext cx="437812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>
            <a:extLst>
              <a:ext uri="{FF2B5EF4-FFF2-40B4-BE49-F238E27FC236}">
                <a16:creationId xmlns:a16="http://schemas.microsoft.com/office/drawing/2014/main" id="{82107721-46AE-0794-A5B6-EDE95D4D74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 r:link="rId7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295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F0786-A948-0900-BA6F-422714837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825C-1640-7CAD-6D66-D11BF007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Noise</a:t>
            </a:r>
          </a:p>
        </p:txBody>
      </p:sp>
    </p:spTree>
    <p:extLst>
      <p:ext uri="{BB962C8B-B14F-4D97-AF65-F5344CB8AC3E}">
        <p14:creationId xmlns:p14="http://schemas.microsoft.com/office/powerpoint/2010/main" val="1151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1989-0D6C-B74B-A38D-54484D2F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Variance-to-mean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06C73-BD8F-D610-E9BD-79FA63133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12127"/>
                <a:ext cx="10515600" cy="2664836"/>
              </a:xfrm>
            </p:spPr>
            <p:txBody>
              <a:bodyPr/>
              <a:lstStyle/>
              <a:p>
                <a:r>
                  <a:rPr lang="en-US" dirty="0"/>
                  <a:t>Convenient measure of noise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Poisson-distributed,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VMR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Constant vs. signal, unlike SNR</a:t>
                </a:r>
              </a:p>
              <a:p>
                <a:r>
                  <a:rPr lang="en-US" dirty="0"/>
                  <a:t>Equal to the slope of the photon-transfer curve</a:t>
                </a:r>
              </a:p>
              <a:p>
                <a:r>
                  <a:rPr lang="en-US" dirty="0"/>
                  <a:t>Same units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606C73-BD8F-D610-E9BD-79FA63133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12127"/>
                <a:ext cx="10515600" cy="2664836"/>
              </a:xfrm>
              <a:blipFill>
                <a:blip r:embed="rId2"/>
                <a:stretch>
                  <a:fillRect l="-1043" t="-3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492592-C859-F944-239A-84CD52898D88}"/>
                  </a:ext>
                </a:extLst>
              </p:cNvPr>
              <p:cNvSpPr txBox="1"/>
              <p:nvPr/>
            </p:nvSpPr>
            <p:spPr>
              <a:xfrm>
                <a:off x="4519799" y="1823605"/>
                <a:ext cx="3152401" cy="986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VMR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492592-C859-F944-239A-84CD52898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799" y="1823605"/>
                <a:ext cx="3152401" cy="9864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6DB42-C351-403F-F001-50C62F55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Noise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8544B-49BF-4D8D-5FB6-D3ABB56FF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245"/>
            <a:ext cx="4579776" cy="18184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Shot noise only</a:t>
            </a:r>
          </a:p>
          <a:p>
            <a:r>
              <a:rPr lang="en-US" dirty="0"/>
              <a:t>All-or-nothing charge collection</a:t>
            </a:r>
          </a:p>
          <a:p>
            <a:r>
              <a:rPr lang="en-US" dirty="0"/>
              <a:t>Used by IRIS and WFC3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29CA8C-26EF-E7B6-0B12-266D9B4DF1C8}"/>
                  </a:ext>
                </a:extLst>
              </p:cNvPr>
              <p:cNvSpPr txBox="1"/>
              <p:nvPr/>
            </p:nvSpPr>
            <p:spPr>
              <a:xfrm>
                <a:off x="1346875" y="3326202"/>
                <a:ext cx="3246723" cy="969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EQE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𝛾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29CA8C-26EF-E7B6-0B12-266D9B4DF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75" y="3326202"/>
                <a:ext cx="3246723" cy="969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1BFB59-0A5B-E986-84D8-45B63CEDB02E}"/>
                  </a:ext>
                </a:extLst>
              </p:cNvPr>
              <p:cNvSpPr txBox="1"/>
              <p:nvPr/>
            </p:nvSpPr>
            <p:spPr>
              <a:xfrm>
                <a:off x="1467839" y="4624456"/>
                <a:ext cx="30047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VMR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QY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1BFB59-0A5B-E986-84D8-45B63CEDB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839" y="4624456"/>
                <a:ext cx="300479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6E22A9-A012-C209-3A79-4299ABC88F6B}"/>
                  </a:ext>
                </a:extLst>
              </p:cNvPr>
              <p:cNvSpPr txBox="1"/>
              <p:nvPr/>
            </p:nvSpPr>
            <p:spPr>
              <a:xfrm>
                <a:off x="1153765" y="5476754"/>
                <a:ext cx="3948645" cy="873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VMR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QE</m:t>
                          </m:r>
                        </m:den>
                      </m:f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EQE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36E22A9-A012-C209-3A79-4299ABC88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765" y="5476754"/>
                <a:ext cx="3948645" cy="8736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>
            <a:extLst>
              <a:ext uri="{FF2B5EF4-FFF2-40B4-BE49-F238E27FC236}">
                <a16:creationId xmlns:a16="http://schemas.microsoft.com/office/drawing/2014/main" id="{A023120C-0F99-CE37-7FA0-6A40FE986F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 r:link="rId7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848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B91E-87B3-0BCD-8BCD-25708503C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Slightly More Complicated Noise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FAEB9-E446-4E4F-9AC9-C666A7AD2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Shot noise</a:t>
            </a:r>
          </a:p>
          <a:p>
            <a:r>
              <a:rPr lang="en-US" dirty="0"/>
              <a:t>Fano noise</a:t>
            </a:r>
          </a:p>
          <a:p>
            <a:pPr lvl="1"/>
            <a:r>
              <a:rPr lang="en-US" dirty="0"/>
              <a:t>Inherent randomness in the charge-generation process</a:t>
            </a:r>
          </a:p>
          <a:p>
            <a:r>
              <a:rPr lang="en-US" b="1" dirty="0"/>
              <a:t>PCC noise</a:t>
            </a:r>
          </a:p>
          <a:p>
            <a:pPr lvl="1"/>
            <a:r>
              <a:rPr lang="en-US" dirty="0"/>
              <a:t>Uncertain CCE due to random absorption depth</a:t>
            </a:r>
          </a:p>
        </p:txBody>
      </p:sp>
    </p:spTree>
    <p:extLst>
      <p:ext uri="{BB962C8B-B14F-4D97-AF65-F5344CB8AC3E}">
        <p14:creationId xmlns:p14="http://schemas.microsoft.com/office/powerpoint/2010/main" val="4049354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774A-27A8-2326-F7C9-A96B3E2D4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Shot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32F34-EAE8-FAFB-B03B-21CE9DBEC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466360" cy="1208520"/>
          </a:xfrm>
        </p:spPr>
        <p:txBody>
          <a:bodyPr>
            <a:normAutofit/>
          </a:bodyPr>
          <a:lstStyle/>
          <a:p>
            <a:r>
              <a:rPr lang="en-US" dirty="0"/>
              <a:t>Absorbed photons are Poisson-distributed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9E511D-7809-8DB9-D15B-82AF57FA0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 r:link="rId4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A1675C-E328-6089-5466-0DECC262560D}"/>
                  </a:ext>
                </a:extLst>
              </p:cNvPr>
              <p:cNvSpPr txBox="1"/>
              <p:nvPr/>
            </p:nvSpPr>
            <p:spPr>
              <a:xfrm>
                <a:off x="883228" y="3595899"/>
                <a:ext cx="3967625" cy="586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Poisson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A1675C-E328-6089-5466-0DECC2625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28" y="3595899"/>
                <a:ext cx="3967625" cy="586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03CBD7-BC31-9C03-8CEC-C4CBC7B1465A}"/>
                  </a:ext>
                </a:extLst>
              </p:cNvPr>
              <p:cNvSpPr txBox="1"/>
              <p:nvPr/>
            </p:nvSpPr>
            <p:spPr>
              <a:xfrm>
                <a:off x="1668025" y="4744096"/>
                <a:ext cx="2398029" cy="8989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VMR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C03CBD7-BC31-9C03-8CEC-C4CBC7B14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025" y="4744096"/>
                <a:ext cx="2398029" cy="8989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295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473E8-2938-19E5-4320-6DEAFBA4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Fano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3FDC6-7CAB-935C-414E-CF7AB941F3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660641" cy="4351338"/>
              </a:xfrm>
            </p:spPr>
            <p:txBody>
              <a:bodyPr/>
              <a:lstStyle/>
              <a:p>
                <a:r>
                  <a:rPr lang="en-US" dirty="0"/>
                  <a:t>Quantum yield uncertainty</a:t>
                </a:r>
              </a:p>
              <a:p>
                <a:r>
                  <a:rPr lang="en-US" dirty="0"/>
                  <a:t>Described by Fano factor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VMR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QY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≃0.1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Ramanathan &amp; Kurinksy (2020) QY model</a:t>
                </a:r>
              </a:p>
              <a:p>
                <a:r>
                  <a:rPr lang="en-US" dirty="0"/>
                  <a:t>Small compared to other noise sources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3FDC6-7CAB-935C-414E-CF7AB941F3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660641" cy="4351338"/>
              </a:xfrm>
              <a:blipFill>
                <a:blip r:embed="rId2"/>
                <a:stretch>
                  <a:fillRect l="-2356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B9403275-ADC7-AE10-6308-B9B185853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 r:link="rId5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27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FC50-CBE0-8709-E2CC-37B4EE4F9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PCC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1B6C-33BD-AFE2-9536-A67D16396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55968" cy="2772352"/>
          </a:xfrm>
        </p:spPr>
        <p:txBody>
          <a:bodyPr/>
          <a:lstStyle/>
          <a:p>
            <a:r>
              <a:rPr lang="en-US" dirty="0"/>
              <a:t>Since each photon is absorbed at a different depth, each experiences a different CCE.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A6AA730-AD7F-0EA9-59F2-6E2063B2E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 r:link="rId4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88F768-E572-F224-8D5F-699C95050ECB}"/>
                  </a:ext>
                </a:extLst>
              </p:cNvPr>
              <p:cNvSpPr txBox="1"/>
              <p:nvPr/>
            </p:nvSpPr>
            <p:spPr>
              <a:xfrm>
                <a:off x="528612" y="4019292"/>
                <a:ext cx="4572000" cy="578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Binomial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QY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88F768-E572-F224-8D5F-699C95050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12" y="4019292"/>
                <a:ext cx="4572000" cy="5786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3ACD9F-4A7E-5DC9-62C2-1B2694C93C34}"/>
                  </a:ext>
                </a:extLst>
              </p:cNvPr>
              <p:cNvSpPr txBox="1"/>
              <p:nvPr/>
            </p:nvSpPr>
            <p:spPr>
              <a:xfrm>
                <a:off x="1823604" y="4848944"/>
                <a:ext cx="1982016" cy="1394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Sup>
                            <m:sSub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3ACD9F-4A7E-5DC9-62C2-1B2694C93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604" y="4848944"/>
                <a:ext cx="1982016" cy="13945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745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F860-A9C6-A4B9-B6F2-3AB2E0DFF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40DE6-796E-6C14-A405-F33015E11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07873" cy="4351338"/>
          </a:xfrm>
        </p:spPr>
        <p:txBody>
          <a:bodyPr/>
          <a:lstStyle/>
          <a:p>
            <a:r>
              <a:rPr lang="en-US" dirty="0"/>
              <a:t>Sum of shot, Fano, and PCC noise</a:t>
            </a:r>
          </a:p>
          <a:p>
            <a:r>
              <a:rPr lang="en-US" dirty="0"/>
              <a:t>VMR is smaller than the simple model in the UV</a:t>
            </a:r>
          </a:p>
          <a:p>
            <a:r>
              <a:rPr lang="en-US" dirty="0"/>
              <a:t>The partial events improve the noise performance</a:t>
            </a:r>
          </a:p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05072C-9C38-1203-43D3-9AC62A33F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 r:link="rId4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77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0D3D-6994-7E23-BC55-697EDF0B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SNR improvement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D6415-CD9C-017C-5409-5D9E75264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73499"/>
                <a:ext cx="3603914" cy="2303463"/>
              </a:xfrm>
            </p:spPr>
            <p:txBody>
              <a:bodyPr/>
              <a:lstStyle/>
              <a:p>
                <a:r>
                  <a:rPr lang="en-US" dirty="0"/>
                  <a:t>SNR improves by up 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30%</m:t>
                    </m:r>
                  </m:oMath>
                </a14:m>
                <a:r>
                  <a:rPr lang="en-US" dirty="0"/>
                  <a:t> compared to the </a:t>
                </a:r>
                <a:r>
                  <a:rPr lang="en-US"/>
                  <a:t>simple model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6D6415-CD9C-017C-5409-5D9E75264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73499"/>
                <a:ext cx="3603914" cy="2303463"/>
              </a:xfrm>
              <a:blipFill>
                <a:blip r:embed="rId2"/>
                <a:stretch>
                  <a:fillRect l="-3046" t="-4497" r="-1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4CF79A35-B522-7C8F-33BD-4FA793C3C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 r:link="rId5"/>
              </a:ext>
            </a:extLst>
          </a:blip>
          <a:stretch>
            <a:fillRect/>
          </a:stretch>
        </p:blipFill>
        <p:spPr>
          <a:xfrm>
            <a:off x="5513832" y="685800"/>
            <a:ext cx="6400800" cy="5486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0B57F5-53CA-F65F-D9F9-EE32FD9F80F6}"/>
                  </a:ext>
                </a:extLst>
              </p:cNvPr>
              <p:cNvSpPr txBox="1"/>
              <p:nvPr/>
            </p:nvSpPr>
            <p:spPr>
              <a:xfrm>
                <a:off x="1272218" y="1883383"/>
                <a:ext cx="2735877" cy="13653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simple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VMR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total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VMR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0B57F5-53CA-F65F-D9F9-EE32FD9F8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18" y="1883383"/>
                <a:ext cx="2735877" cy="13653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2984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222D-4063-7F76-79CB-53782D09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Charge spreading?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CF5C1-95AC-EE14-4947-2A6EA5BA45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Charge spreading is when electrons diffuse into adjacent pixels.</a:t>
            </a:r>
          </a:p>
          <a:p>
            <a:r>
              <a:rPr lang="en-US" dirty="0"/>
              <a:t>Proportional to size of field-free region</a:t>
            </a:r>
          </a:p>
          <a:p>
            <a:r>
              <a:rPr lang="en-US" dirty="0"/>
              <a:t>Could explain the discrepancy since this increases the correlations between pixels</a:t>
            </a:r>
          </a:p>
        </p:txBody>
      </p:sp>
      <p:pic>
        <p:nvPicPr>
          <p:cNvPr id="6" name="Content Placeholder 5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F55CF64E-93D3-E032-324B-ED342C2D73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365125"/>
            <a:ext cx="5512095" cy="561301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CFE96C-C690-EB50-BF07-05A62C9B23CD}"/>
              </a:ext>
            </a:extLst>
          </p:cNvPr>
          <p:cNvSpPr txBox="1"/>
          <p:nvPr/>
        </p:nvSpPr>
        <p:spPr>
          <a:xfrm>
            <a:off x="9560873" y="5992297"/>
            <a:ext cx="1927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Stern et al. (2003)</a:t>
            </a:r>
          </a:p>
        </p:txBody>
      </p:sp>
    </p:spTree>
    <p:extLst>
      <p:ext uri="{BB962C8B-B14F-4D97-AF65-F5344CB8AC3E}">
        <p14:creationId xmlns:p14="http://schemas.microsoft.com/office/powerpoint/2010/main" val="4284634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5E59-C204-5C87-1835-FE62795A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Charge Capture (MCC)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4B47-8A1E-BD32-73CD-FD54FB26D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4601441" cy="4486275"/>
          </a:xfrm>
        </p:spPr>
        <p:txBody>
          <a:bodyPr/>
          <a:lstStyle/>
          <a:p>
            <a:r>
              <a:rPr lang="en-US" dirty="0"/>
              <a:t>Average fraction of charge captured by central pixel</a:t>
            </a:r>
          </a:p>
          <a:p>
            <a:r>
              <a:rPr lang="en-US" dirty="0" err="1"/>
              <a:t>Janesick</a:t>
            </a:r>
            <a:r>
              <a:rPr lang="en-US" dirty="0"/>
              <a:t> (2001) charge spreading model</a:t>
            </a:r>
          </a:p>
          <a:p>
            <a:r>
              <a:rPr lang="en-US" dirty="0"/>
              <a:t>Stern et al. (2004) measurements</a:t>
            </a:r>
          </a:p>
          <a:p>
            <a:r>
              <a:rPr lang="en-US" dirty="0"/>
              <a:t>Fit size of field-free region</a:t>
            </a:r>
          </a:p>
          <a:p>
            <a:r>
              <a:rPr lang="en-US" dirty="0"/>
              <a:t>Predicts a similar amount of charge spreading for both UV and visible light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B4032DD-8A1D-4C23-F64C-E86F98204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 r:link="rId4"/>
              </a:ext>
            </a:extLst>
          </a:blip>
          <a:stretch>
            <a:fillRect/>
          </a:stretch>
        </p:blipFill>
        <p:spPr>
          <a:xfrm>
            <a:off x="5579165" y="1258094"/>
            <a:ext cx="6400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42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C3ED-D34D-E64B-66BB-76E60127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to Measurements</a:t>
            </a:r>
          </a:p>
        </p:txBody>
      </p:sp>
      <p:pic>
        <p:nvPicPr>
          <p:cNvPr id="8" name="Picture 7" descr="A table with numbers and a number&#10;&#10;AI-generated content may be incorrect.">
            <a:extLst>
              <a:ext uri="{FF2B5EF4-FFF2-40B4-BE49-F238E27FC236}">
                <a16:creationId xmlns:a16="http://schemas.microsoft.com/office/drawing/2014/main" id="{BB05BA9E-4E27-1326-EB52-BAFDCB4A542D}"/>
              </a:ext>
            </a:extLst>
          </p:cNvPr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847" y="1480705"/>
            <a:ext cx="9800305" cy="514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63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AA0A-3925-913C-CDD4-36EF4604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413622" cy="1681884"/>
          </a:xfrm>
        </p:spPr>
        <p:txBody>
          <a:bodyPr>
            <a:normAutofit/>
          </a:bodyPr>
          <a:lstStyle/>
          <a:p>
            <a:r>
              <a:rPr lang="en-US" dirty="0"/>
              <a:t>Affected Instruments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8FB41-82CC-683C-12F3-B60FDB827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53541"/>
            <a:ext cx="2829791" cy="38234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AIA</a:t>
            </a:r>
          </a:p>
          <a:p>
            <a:pPr lvl="1"/>
            <a:r>
              <a:rPr lang="en-US" dirty="0"/>
              <a:t>94 Å</a:t>
            </a:r>
          </a:p>
          <a:p>
            <a:pPr lvl="1"/>
            <a:r>
              <a:rPr lang="en-US" dirty="0"/>
              <a:t>1600 Å</a:t>
            </a:r>
          </a:p>
          <a:p>
            <a:pPr lvl="1"/>
            <a:r>
              <a:rPr lang="en-US" dirty="0"/>
              <a:t>1700 Å</a:t>
            </a:r>
          </a:p>
          <a:p>
            <a:r>
              <a:rPr lang="en-US" dirty="0"/>
              <a:t>IRIS</a:t>
            </a:r>
          </a:p>
          <a:p>
            <a:pPr lvl="1"/>
            <a:r>
              <a:rPr lang="en-US" dirty="0"/>
              <a:t>1330 Å</a:t>
            </a:r>
          </a:p>
          <a:p>
            <a:pPr lvl="1"/>
            <a:r>
              <a:rPr lang="en-US" dirty="0"/>
              <a:t>1400 Å</a:t>
            </a:r>
          </a:p>
          <a:p>
            <a:r>
              <a:rPr lang="en-US" dirty="0"/>
              <a:t>MUSE</a:t>
            </a:r>
          </a:p>
          <a:p>
            <a:pPr lvl="1"/>
            <a:r>
              <a:rPr lang="en-US" dirty="0"/>
              <a:t>108 Å</a:t>
            </a:r>
          </a:p>
        </p:txBody>
      </p:sp>
      <p:pic>
        <p:nvPicPr>
          <p:cNvPr id="7" name="Picture 6" descr="A table of numbers and symbols&#10;&#10;AI-generated content may be incorrect.">
            <a:extLst>
              <a:ext uri="{FF2B5EF4-FFF2-40B4-BE49-F238E27FC236}">
                <a16:creationId xmlns:a16="http://schemas.microsoft.com/office/drawing/2014/main" id="{F0360076-BBDE-8AA9-252B-31102B824C59}"/>
              </a:ext>
            </a:extLst>
          </p:cNvPr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008" y="260494"/>
            <a:ext cx="7477250" cy="633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264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0BE8-92C1-A3C0-9EBD-139FC971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3D9FD-C4E1-3117-7A8A-A0AFE8269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Partial-charge collection is mostly responsible for IRIS noise mystery</a:t>
            </a:r>
          </a:p>
          <a:p>
            <a:r>
              <a:rPr lang="en-US" dirty="0"/>
              <a:t>Charge spreading is less important</a:t>
            </a:r>
          </a:p>
          <a:p>
            <a:r>
              <a:rPr lang="en-US" dirty="0"/>
              <a:t>Need to use a more complicated expression to compute noise </a:t>
            </a:r>
          </a:p>
          <a:p>
            <a:r>
              <a:rPr lang="en-US" dirty="0"/>
              <a:t>The model predicts better SNR in some wavelengths than  designers expected</a:t>
            </a:r>
          </a:p>
          <a:p>
            <a:r>
              <a:rPr lang="en-US" dirty="0"/>
              <a:t>Results affect AIA, IRIS, WFC3, ESIS, FURST, and MUSE.</a:t>
            </a:r>
          </a:p>
          <a:p>
            <a:r>
              <a:rPr lang="en-US" dirty="0"/>
              <a:t>Code provided in the </a:t>
            </a:r>
            <a:r>
              <a:rPr lang="en-US" dirty="0" err="1">
                <a:latin typeface="Aptos Mono" panose="020F0502020204030204" pitchFamily="49" charset="0"/>
              </a:rPr>
              <a:t>optika.sensors</a:t>
            </a:r>
            <a:r>
              <a:rPr lang="en-US" dirty="0">
                <a:latin typeface="Aptos Mono" panose="020F0502020204030204" pitchFamily="49" charset="0"/>
              </a:rPr>
              <a:t> </a:t>
            </a:r>
            <a:r>
              <a:rPr lang="en-US" dirty="0"/>
              <a:t>Python module.</a:t>
            </a:r>
          </a:p>
          <a:p>
            <a:pPr lvl="1"/>
            <a:r>
              <a:rPr lang="en-US" dirty="0"/>
              <a:t>Published on </a:t>
            </a:r>
            <a:r>
              <a:rPr lang="en-US" dirty="0" err="1"/>
              <a:t>PyPI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086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9158</TotalTime>
  <Words>1083</Words>
  <Application>Microsoft Office PowerPoint</Application>
  <PresentationFormat>Widescreen</PresentationFormat>
  <Paragraphs>167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Aptos Mono</vt:lpstr>
      <vt:lpstr>Arial</vt:lpstr>
      <vt:lpstr>Cambria Math</vt:lpstr>
      <vt:lpstr>Office Theme</vt:lpstr>
      <vt:lpstr>The Noise Measured by Back-illuminated Silicon Sensors</vt:lpstr>
      <vt:lpstr>IRIS Noise Mystery</vt:lpstr>
      <vt:lpstr>HST/WFC3 Noise</vt:lpstr>
      <vt:lpstr>Outline</vt:lpstr>
      <vt:lpstr>Signal</vt:lpstr>
      <vt:lpstr>Quantum Yield</vt:lpstr>
      <vt:lpstr>Back-illuminated Sensor Model</vt:lpstr>
      <vt:lpstr>Partial-Charge Collection</vt:lpstr>
      <vt:lpstr>Penetration depth</vt:lpstr>
      <vt:lpstr>Average Charge-Collection Efficiency</vt:lpstr>
      <vt:lpstr>Absorbance</vt:lpstr>
      <vt:lpstr>Quantum Efficiency</vt:lpstr>
      <vt:lpstr>Effective Quantum Efficiency (EQE)</vt:lpstr>
      <vt:lpstr>Noise</vt:lpstr>
      <vt:lpstr>Variance-to-mean ratio</vt:lpstr>
      <vt:lpstr>Simple Noise Model</vt:lpstr>
      <vt:lpstr>A Slightly More Complicated Noise Model</vt:lpstr>
      <vt:lpstr>Shot Noise</vt:lpstr>
      <vt:lpstr>Fano Noise</vt:lpstr>
      <vt:lpstr>PCC Noise</vt:lpstr>
      <vt:lpstr>Total Noise</vt:lpstr>
      <vt:lpstr>SNR improvement</vt:lpstr>
      <vt:lpstr>Charge spreading?</vt:lpstr>
      <vt:lpstr>Mean Charge Capture (MCC)</vt:lpstr>
      <vt:lpstr>Compare to Measurements</vt:lpstr>
      <vt:lpstr>Affected Instruments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Smart, Roy</dc:creator>
  <cp:lastModifiedBy>Smart, Roy</cp:lastModifiedBy>
  <cp:revision>24</cp:revision>
  <dcterms:created xsi:type="dcterms:W3CDTF">2025-06-03T02:12:18Z</dcterms:created>
  <dcterms:modified xsi:type="dcterms:W3CDTF">2025-06-09T17:32:24Z</dcterms:modified>
</cp:coreProperties>
</file>